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5486400" cy="4572000"/>
          </a:xfrm>
          <a:prstGeom prst="oval">
            <a:avLst/>
          </a:prstGeom>
          <a:solidFill>
            <a:srgbClr val="831449">
              <a:alpha val="18000"/>
            </a:srgbClr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3657600" cy="3200400"/>
          </a:xfrm>
          <a:prstGeom prst="oval">
            <a:avLst/>
          </a:prstGeom>
          <a:solidFill>
            <a:srgbClr val="004896">
              <a:alpha val="15000"/>
            </a:srgbClr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KINARYALOKA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75488" y="17556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A91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Studio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3200400" cy="27432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786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digital untuk UMKM yang mau serius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tapi tidak tahu mulai dari mana.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Digital untuk UMKM Indonesia  ·  Est. 29 April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4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kinaryaloka-digital.vercel.app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548640"/>
            <a:ext cx="1645920" cy="914400"/>
          </a:xfrm>
          <a:prstGeom prst="rect">
            <a:avLst/>
          </a:prstGeom>
          <a:solidFill>
            <a:srgbClr val="831449">
              <a:alpha val="22000"/>
            </a:srgbClr>
          </a:solidFill>
          <a:ln w="12700">
            <a:solidFill>
              <a:srgbClr val="831449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554480"/>
            <a:ext cx="1280160" cy="731520"/>
          </a:xfrm>
          <a:prstGeom prst="rect">
            <a:avLst/>
          </a:prstGeom>
          <a:solidFill>
            <a:srgbClr val="004896">
              <a:alpha val="25000"/>
            </a:srgbClr>
          </a:solidFill>
          <a:ln w="12700">
            <a:solidFill>
              <a:srgbClr val="00489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377440"/>
            <a:ext cx="1920240" cy="640080"/>
          </a:xfrm>
          <a:prstGeom prst="rect">
            <a:avLst/>
          </a:prstGeom>
          <a:solidFill>
            <a:srgbClr val="207224">
              <a:alpha val="20000"/>
            </a:srgbClr>
          </a:solidFill>
          <a:ln w="12700">
            <a:solidFill>
              <a:srgbClr val="207224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3108960"/>
            <a:ext cx="1463040" cy="822960"/>
          </a:xfrm>
          <a:prstGeom prst="rect">
            <a:avLst/>
          </a:prstGeom>
          <a:solidFill>
            <a:srgbClr val="B76431">
              <a:alpha val="22000"/>
            </a:srgbClr>
          </a:solidFill>
          <a:ln w="12700">
            <a:solidFill>
              <a:srgbClr val="B76431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80744" cy="256032"/>
          </a:xfrm>
          <a:prstGeom prst="rect">
            <a:avLst>
              <a:gd name="adj" fmla="val 17857"/>
            </a:avLst>
          </a:prstGeom>
          <a:solidFill>
            <a:srgbClr val="B76431"/>
          </a:solidFill>
          <a:ln w="12700">
            <a:solidFill>
              <a:srgbClr val="B764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SMEs Are Left Behind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the Digital Age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4114800" cy="1234440"/>
          </a:xfrm>
          <a:prstGeom prst="rect">
            <a:avLst/>
          </a:prstGeom>
          <a:solidFill>
            <a:srgbClr val="141414"/>
          </a:solidFill>
          <a:ln w="19050">
            <a:solidFill>
              <a:srgbClr val="B7643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305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874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Tahu Mulai dari Mana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22585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SMEs want to go digital but have no clear roadmap or trusted guide.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783080"/>
            <a:ext cx="4114800" cy="1234440"/>
          </a:xfrm>
          <a:prstGeom prst="rect">
            <a:avLst/>
          </a:prstGeom>
          <a:solidFill>
            <a:srgbClr val="141414"/>
          </a:solidFill>
          <a:ln w="19050">
            <a:solidFill>
              <a:srgbClr val="8314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3055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874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Terlalu Mahal &amp; Tidak Jelas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349240" y="22585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Overpriced proposals with vague deliverables and hidden costs.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3246120"/>
            <a:ext cx="4114800" cy="1234440"/>
          </a:xfrm>
          <a:prstGeom prst="rect">
            <a:avLst/>
          </a:prstGeom>
          <a:solidFill>
            <a:srgbClr val="141414"/>
          </a:solidFill>
          <a:ln w="19050">
            <a:solidFill>
              <a:srgbClr val="004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9359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3375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Dibuat, Tapi Tidak Dipakai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51560" y="3721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products sit unused — no training, no adoption support.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63440" y="3246120"/>
            <a:ext cx="4114800" cy="1234440"/>
          </a:xfrm>
          <a:prstGeom prst="rect">
            <a:avLst/>
          </a:prstGeom>
          <a:solidFill>
            <a:srgbClr val="141414"/>
          </a:solidFill>
          <a:ln w="19050">
            <a:solidFill>
              <a:srgbClr val="2072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9359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33375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Dukungan Setelah Selesai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49240" y="3721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launch, clients are left alone with no ongoing partnership.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81328" cy="256032"/>
          </a:xfrm>
          <a:prstGeom prst="rect">
            <a:avLst>
              <a:gd name="adj" fmla="val 17857"/>
            </a:avLst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OUR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Are Your Digital Partner,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Just a Vendor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4114800" cy="1188720"/>
          </a:xfrm>
          <a:prstGeom prst="rect">
            <a:avLst/>
          </a:prstGeom>
          <a:solidFill>
            <a:srgbClr val="141414"/>
          </a:solidFill>
          <a:ln w="19050">
            <a:solidFill>
              <a:srgbClr val="8314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83080"/>
            <a:ext cx="64008" cy="1188720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13055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8562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Tepat Sasaran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21854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31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Solutions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97280" y="24231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built specifically for your business needs — no generic templates.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783080"/>
            <a:ext cx="4114800" cy="1188720"/>
          </a:xfrm>
          <a:prstGeom prst="rect">
            <a:avLst/>
          </a:prstGeom>
          <a:solidFill>
            <a:srgbClr val="141414"/>
          </a:solidFill>
          <a:ln w="19050">
            <a:solidFill>
              <a:srgbClr val="0048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783080"/>
            <a:ext cx="64008" cy="1188720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13055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8562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bukan Vendor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94960" y="21854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4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Partnership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394960" y="24231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walk with you, not just hand you a product and disappear.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3200400"/>
            <a:ext cx="4114800" cy="1188720"/>
          </a:xfrm>
          <a:prstGeom prst="rect">
            <a:avLst/>
          </a:prstGeom>
          <a:solidFill>
            <a:srgbClr val="141414"/>
          </a:solidFill>
          <a:ln w="19050">
            <a:solidFill>
              <a:srgbClr val="B7643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3200400"/>
            <a:ext cx="64008" cy="1188720"/>
          </a:xfrm>
          <a:prstGeom prst="rect">
            <a:avLst/>
          </a:prstGeom>
          <a:solidFill>
            <a:srgbClr val="B76431"/>
          </a:solidFill>
          <a:ln w="12700">
            <a:solidFill>
              <a:srgbClr val="B7643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54787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Langsung Kepakai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97280" y="36027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76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Usable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097280" y="3840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system delivered is ready to use from day one, fully set up.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63440" y="3200400"/>
            <a:ext cx="4114800" cy="1188720"/>
          </a:xfrm>
          <a:prstGeom prst="rect">
            <a:avLst/>
          </a:prstGeom>
          <a:solidFill>
            <a:srgbClr val="141414"/>
          </a:solidFill>
          <a:ln w="19050">
            <a:solidFill>
              <a:srgbClr val="20722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63440" y="3200400"/>
            <a:ext cx="64008" cy="1188720"/>
          </a:xfrm>
          <a:prstGeom prst="rect">
            <a:avLst/>
          </a:prstGeom>
          <a:solidFill>
            <a:srgbClr val="207224"/>
          </a:solidFill>
          <a:ln w="12700">
            <a:solidFill>
              <a:srgbClr val="20722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54787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Transparan &amp; Jelas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94960" y="36027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07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&amp; Honest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394960" y="3840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costs. No vague timelines. You always know what's happening.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81912" cy="256032"/>
          </a:xfrm>
          <a:prstGeom prst="rect">
            <a:avLst>
              <a:gd name="adj" fmla="val 17857"/>
            </a:avLst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WHAT WE OFFER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Core Service Lines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an SME needs — E-Commerce, Web, and Brand Identity.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43200" cy="3154680"/>
          </a:xfrm>
          <a:prstGeom prst="rect">
            <a:avLst/>
          </a:prstGeom>
          <a:solidFill>
            <a:srgbClr val="141414"/>
          </a:solidFill>
          <a:ln w="19050">
            <a:solidFill>
              <a:srgbClr val="B7643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2743200" cy="54864"/>
          </a:xfrm>
          <a:prstGeom prst="rect">
            <a:avLst/>
          </a:prstGeom>
          <a:solidFill>
            <a:srgbClr val="B76431"/>
          </a:solidFill>
          <a:ln w="12700">
            <a:solidFill>
              <a:srgbClr val="B7643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745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E-Commerce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6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2,5 Jt — 15 Jt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79806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simple product catalogs to full-featured online stores with payment gateways, inventory management, and brand identity.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3749040"/>
            <a:ext cx="1211580" cy="201168"/>
          </a:xfrm>
          <a:prstGeom prst="rect">
            <a:avLst/>
          </a:prstGeom>
          <a:solidFill>
            <a:srgbClr val="B76431">
              <a:alpha val="28000"/>
            </a:srgbClr>
          </a:solidFill>
          <a:ln w="6350">
            <a:solidFill>
              <a:srgbClr val="B764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3749040"/>
            <a:ext cx="121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Katalog Digital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641348" y="3749040"/>
            <a:ext cx="937260" cy="201168"/>
          </a:xfrm>
          <a:prstGeom prst="rect">
            <a:avLst/>
          </a:prstGeom>
          <a:solidFill>
            <a:srgbClr val="B76431">
              <a:alpha val="28000"/>
            </a:srgbClr>
          </a:solidFill>
          <a:ln w="6350">
            <a:solidFill>
              <a:srgbClr val="B764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41348" y="3749040"/>
            <a:ext cx="937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Toko Online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65760" y="4023360"/>
            <a:ext cx="937260" cy="201168"/>
          </a:xfrm>
          <a:prstGeom prst="rect">
            <a:avLst/>
          </a:prstGeom>
          <a:solidFill>
            <a:srgbClr val="B76431">
              <a:alpha val="28000"/>
            </a:srgbClr>
          </a:solidFill>
          <a:ln w="6350">
            <a:solidFill>
              <a:srgbClr val="B764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023360"/>
            <a:ext cx="937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Olshop Full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367028" y="4023360"/>
            <a:ext cx="1280160" cy="201168"/>
          </a:xfrm>
          <a:prstGeom prst="rect">
            <a:avLst/>
          </a:prstGeom>
          <a:solidFill>
            <a:srgbClr val="B76431">
              <a:alpha val="28000"/>
            </a:srgbClr>
          </a:solidFill>
          <a:ln w="6350">
            <a:solidFill>
              <a:srgbClr val="B7643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67028" y="4023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Brand Store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218688" y="1691640"/>
            <a:ext cx="2743200" cy="3154680"/>
          </a:xfrm>
          <a:prstGeom prst="rect">
            <a:avLst/>
          </a:prstGeom>
          <a:solidFill>
            <a:srgbClr val="141414"/>
          </a:solidFill>
          <a:ln w="19050">
            <a:solidFill>
              <a:srgbClr val="004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18688" y="1691640"/>
            <a:ext cx="2743200" cy="54864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874520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904488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Design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3310128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2,5 Jt — 12 Jt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310128" y="279806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pages, reservation systems, and complete multi-page websites with database-backed content and professional SEO.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310128" y="3749040"/>
            <a:ext cx="1143000" cy="201168"/>
          </a:xfrm>
          <a:prstGeom prst="rect">
            <a:avLst/>
          </a:prstGeom>
          <a:solidFill>
            <a:srgbClr val="004896">
              <a:alpha val="28000"/>
            </a:srgbClr>
          </a:solidFill>
          <a:ln w="6350">
            <a:solidFill>
              <a:srgbClr val="00489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10128" y="37490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Widget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517136" y="3749040"/>
            <a:ext cx="1005840" cy="201168"/>
          </a:xfrm>
          <a:prstGeom prst="rect">
            <a:avLst/>
          </a:prstGeom>
          <a:solidFill>
            <a:srgbClr val="004896">
              <a:alpha val="28000"/>
            </a:srgbClr>
          </a:solidFill>
          <a:ln w="6350">
            <a:solidFill>
              <a:srgbClr val="00489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17136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3310128" y="4023360"/>
            <a:ext cx="937260" cy="201168"/>
          </a:xfrm>
          <a:prstGeom prst="rect">
            <a:avLst/>
          </a:prstGeom>
          <a:solidFill>
            <a:srgbClr val="004896">
              <a:alpha val="28000"/>
            </a:srgbClr>
          </a:solidFill>
          <a:ln w="6350">
            <a:solidFill>
              <a:srgbClr val="00489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10128" y="4023360"/>
            <a:ext cx="937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Pro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4311396" y="4023360"/>
            <a:ext cx="1348740" cy="201168"/>
          </a:xfrm>
          <a:prstGeom prst="rect">
            <a:avLst/>
          </a:prstGeom>
          <a:solidFill>
            <a:srgbClr val="004896">
              <a:alpha val="28000"/>
            </a:srgbClr>
          </a:solidFill>
          <a:ln w="6350">
            <a:solidFill>
              <a:srgbClr val="00489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311396" y="4023360"/>
            <a:ext cx="1348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Digital Pack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6163056" y="1691640"/>
            <a:ext cx="2743200" cy="3154680"/>
          </a:xfrm>
          <a:prstGeom prst="rect">
            <a:avLst/>
          </a:prstGeom>
          <a:solidFill>
            <a:srgbClr val="141414"/>
          </a:solidFill>
          <a:ln w="19050">
            <a:solidFill>
              <a:srgbClr val="83144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163056" y="1691640"/>
            <a:ext cx="2743200" cy="54864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874520"/>
            <a:ext cx="502920" cy="5029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848856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Branding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6254496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1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1,5 Jt — 4 Jt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254496" y="279806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color system, copywriting, social media kits, and end-to-end brand strategy that makes your business memorable.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6254496" y="3749040"/>
            <a:ext cx="1005840" cy="201168"/>
          </a:xfrm>
          <a:prstGeom prst="rect">
            <a:avLst/>
          </a:prstGeom>
          <a:solidFill>
            <a:srgbClr val="831449">
              <a:alpha val="28000"/>
            </a:srgbClr>
          </a:solidFill>
          <a:ln w="6350">
            <a:solidFill>
              <a:srgbClr val="83144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254496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&amp; Color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7324344" y="3749040"/>
            <a:ext cx="1417320" cy="201168"/>
          </a:xfrm>
          <a:prstGeom prst="rect">
            <a:avLst/>
          </a:prstGeom>
          <a:solidFill>
            <a:srgbClr val="831449">
              <a:alpha val="28000"/>
            </a:srgbClr>
          </a:solidFill>
          <a:ln w="6350">
            <a:solidFill>
              <a:srgbClr val="831449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324344" y="37490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+ Pack Design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6254496" y="4023360"/>
            <a:ext cx="1348740" cy="201168"/>
          </a:xfrm>
          <a:prstGeom prst="rect">
            <a:avLst/>
          </a:prstGeom>
          <a:solidFill>
            <a:srgbClr val="831449">
              <a:alpha val="28000"/>
            </a:srgbClr>
          </a:solidFill>
          <a:ln w="6350">
            <a:solidFill>
              <a:srgbClr val="831449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254496" y="4023360"/>
            <a:ext cx="1348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Branding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ect">
            <a:avLst>
              <a:gd name="adj" fmla="val 17857"/>
            </a:avLst>
          </a:prstGeom>
          <a:solidFill>
            <a:srgbClr val="B76431"/>
          </a:solidFill>
          <a:ln w="12700">
            <a:solidFill>
              <a:srgbClr val="B764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E-COMMERCE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E-Commerce Solutions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simple catalogs to full-brand stores — built to sell.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645920"/>
            <a:ext cx="2029968" cy="3246120"/>
          </a:xfrm>
          <a:prstGeom prst="rect">
            <a:avLst/>
          </a:prstGeom>
          <a:solidFill>
            <a:srgbClr val="141414"/>
          </a:solidFill>
          <a:ln w="12700">
            <a:solidFill>
              <a:srgbClr val="B7643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45920"/>
            <a:ext cx="2029968" cy="54864"/>
          </a:xfrm>
          <a:prstGeom prst="rect">
            <a:avLst/>
          </a:prstGeom>
          <a:solidFill>
            <a:srgbClr val="B76431"/>
          </a:solidFill>
          <a:ln w="12700">
            <a:solidFill>
              <a:srgbClr val="B764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55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Katalog Digital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64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2.500.000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633472"/>
            <a:ext cx="1828800" cy="27432"/>
          </a:xfrm>
          <a:prstGeom prst="rect">
            <a:avLst/>
          </a:prstGeom>
          <a:solidFill>
            <a:srgbClr val="B76431"/>
          </a:solidFill>
          <a:ln w="12700">
            <a:solidFill>
              <a:srgbClr val="B764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706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Katalog produk dengan foto &amp; deskripsi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026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Order via WhatsApp (tanpa keranjang)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346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Mobile responsive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3666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bulan support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1645920"/>
            <a:ext cx="2029968" cy="3246120"/>
          </a:xfrm>
          <a:prstGeom prst="rect">
            <a:avLst/>
          </a:prstGeom>
          <a:solidFill>
            <a:srgbClr val="141414"/>
          </a:solidFill>
          <a:ln w="12700">
            <a:solidFill>
              <a:srgbClr val="D477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1645920"/>
            <a:ext cx="2029968" cy="54864"/>
          </a:xfrm>
          <a:prstGeom prst="rect">
            <a:avLst/>
          </a:prstGeom>
          <a:solidFill>
            <a:srgbClr val="D4773A"/>
          </a:solidFill>
          <a:ln w="12700">
            <a:solidFill>
              <a:srgbClr val="D47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1719072"/>
            <a:ext cx="1938528" cy="237744"/>
          </a:xfrm>
          <a:prstGeom prst="rect">
            <a:avLst/>
          </a:prstGeom>
          <a:solidFill>
            <a:srgbClr val="D4773A">
              <a:alpha val="40000"/>
            </a:srgbClr>
          </a:solidFill>
          <a:ln w="12700">
            <a:solidFill>
              <a:srgbClr val="D47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7190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1460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Toko Online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5.000.000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14600" y="2852928"/>
            <a:ext cx="1828800" cy="27432"/>
          </a:xfrm>
          <a:prstGeom prst="rect">
            <a:avLst/>
          </a:prstGeom>
          <a:solidFill>
            <a:srgbClr val="D4773A"/>
          </a:solidFill>
          <a:ln w="12700">
            <a:solidFill>
              <a:srgbClr val="D47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Keranjang belanja + checkout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1460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Payment gateway (Midtrans/Xendit)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1460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Dashboard admin produk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1460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bulan support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1645920"/>
            <a:ext cx="2029968" cy="3246120"/>
          </a:xfrm>
          <a:prstGeom prst="rect">
            <a:avLst/>
          </a:prstGeom>
          <a:solidFill>
            <a:srgbClr val="141414"/>
          </a:solidFill>
          <a:ln w="12700">
            <a:solidFill>
              <a:srgbClr val="004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645920"/>
            <a:ext cx="2029968" cy="54864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755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Olshop Full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8.000.000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2633472"/>
            <a:ext cx="1828800" cy="27432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706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Inventory &amp; multi-variant produk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3026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Voucher &amp; promo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3346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Analytics dashboard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3666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6 bulan support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12280" y="1645920"/>
            <a:ext cx="2029968" cy="3246120"/>
          </a:xfrm>
          <a:prstGeom prst="rect">
            <a:avLst/>
          </a:prstGeom>
          <a:solidFill>
            <a:srgbClr val="1A0A14"/>
          </a:solidFill>
          <a:ln w="25400">
            <a:solidFill>
              <a:srgbClr val="8314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12280" y="1645920"/>
            <a:ext cx="2029968" cy="54864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1719072"/>
            <a:ext cx="1938528" cy="237744"/>
          </a:xfrm>
          <a:prstGeom prst="rect">
            <a:avLst/>
          </a:prstGeom>
          <a:solidFill>
            <a:srgbClr val="831449">
              <a:alpha val="40000"/>
            </a:srgbClr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171907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Flagship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0372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Full Brand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0372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31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15.000.000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903720" y="2852928"/>
            <a:ext cx="1828800" cy="27432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Semua fitur Olshop Full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0372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Branding &amp; logo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03720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Social media kit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0372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SEO onpage setup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82496" cy="256032"/>
          </a:xfrm>
          <a:prstGeom prst="rect">
            <a:avLst>
              <a:gd name="adj" fmla="val 17857"/>
            </a:avLst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WEB + BRANDING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Design + Branding Packages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846320" cy="347472"/>
          </a:xfrm>
          <a:prstGeom prst="rect">
            <a:avLst/>
          </a:prstGeom>
          <a:solidFill>
            <a:srgbClr val="004896">
              <a:alpha val="30000"/>
            </a:srgbClr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WEB DESIGN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57800" y="1325880"/>
            <a:ext cx="3611880" cy="347472"/>
          </a:xfrm>
          <a:prstGeom prst="rect">
            <a:avLst/>
          </a:prstGeom>
          <a:solidFill>
            <a:srgbClr val="831449">
              <a:alpha val="30000"/>
            </a:srgbClr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BRANDING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846320" cy="685800"/>
          </a:xfrm>
          <a:prstGeom prst="rect">
            <a:avLst/>
          </a:prstGeom>
          <a:solidFill>
            <a:srgbClr val="141414"/>
          </a:solidFill>
          <a:ln w="10160">
            <a:solidFill>
              <a:srgbClr val="004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83080"/>
            <a:ext cx="54864" cy="685800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37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Reservasi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837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4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2.500.000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130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widget, tanpa website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4846320" cy="685800"/>
          </a:xfrm>
          <a:prstGeom prst="rect">
            <a:avLst/>
          </a:prstGeom>
          <a:solidFill>
            <a:srgbClr val="141414"/>
          </a:solidFill>
          <a:ln w="10160">
            <a:solidFill>
              <a:srgbClr val="004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51176"/>
            <a:ext cx="54864" cy="685800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&amp; Reservasi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4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5.000.000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898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+ simple booking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19272"/>
            <a:ext cx="4846320" cy="685800"/>
          </a:xfrm>
          <a:prstGeom prst="rect">
            <a:avLst/>
          </a:prstGeom>
          <a:solidFill>
            <a:srgbClr val="141414"/>
          </a:solidFill>
          <a:ln w="10160">
            <a:solidFill>
              <a:srgbClr val="004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19272"/>
            <a:ext cx="54864" cy="685800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374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3374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4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8.000.000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3666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Multi-page + database reservasi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087368"/>
            <a:ext cx="4846320" cy="685800"/>
          </a:xfrm>
          <a:prstGeom prst="rect">
            <a:avLst/>
          </a:prstGeom>
          <a:solidFill>
            <a:srgbClr val="0A1A30"/>
          </a:solidFill>
          <a:ln w="19050">
            <a:solidFill>
              <a:srgbClr val="004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087368"/>
            <a:ext cx="54864" cy="685800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142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Digital Package 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142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4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12.000.000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digital lengkap + SEO + analitik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57800" y="1783080"/>
            <a:ext cx="3611880" cy="914400"/>
          </a:xfrm>
          <a:prstGeom prst="rect">
            <a:avLst/>
          </a:prstGeom>
          <a:solidFill>
            <a:srgbClr val="141414"/>
          </a:solidFill>
          <a:ln w="10160">
            <a:solidFill>
              <a:srgbClr val="8314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1783080"/>
            <a:ext cx="54864" cy="914400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22392" y="1856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Branding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22392" y="21305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1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1.500.000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22392" y="2404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warna, social media kit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57800" y="2807208"/>
            <a:ext cx="3611880" cy="914400"/>
          </a:xfrm>
          <a:prstGeom prst="rect">
            <a:avLst/>
          </a:prstGeom>
          <a:solidFill>
            <a:srgbClr val="141414"/>
          </a:solidFill>
          <a:ln w="10160">
            <a:solidFill>
              <a:srgbClr val="8314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7800" y="2807208"/>
            <a:ext cx="54864" cy="914400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22392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+ Copywriting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22392" y="3154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1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2.500.000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22392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website, email, packaging design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57800" y="3831336"/>
            <a:ext cx="3611880" cy="914400"/>
          </a:xfrm>
          <a:prstGeom prst="rect">
            <a:avLst/>
          </a:prstGeom>
          <a:solidFill>
            <a:srgbClr val="140A1A"/>
          </a:solidFill>
          <a:ln w="19050">
            <a:solidFill>
              <a:srgbClr val="8314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57800" y="3831336"/>
            <a:ext cx="54864" cy="914400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22392" y="3904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1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Branding 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22392" y="4178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1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 4.000.000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22392" y="4453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copy, strategi, 20 template sosial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984248" cy="256032"/>
          </a:xfrm>
          <a:prstGeom prst="rect">
            <a:avLst>
              <a:gd name="adj" fmla="val 17857"/>
            </a:avLst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 DIFFERENTIATOR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oval">
            <a:avLst/>
          </a:prstGeom>
          <a:solidFill>
            <a:srgbClr val="831449">
              <a:alpha val="12000"/>
            </a:srgbClr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669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31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Nara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AI Consultation Assistant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 is our custom-built AI chatbot that guides every visitor through Kinaryaloka's services in natural Indonesian — no external API, no recurring cost.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 NLP classifier — 30+ trained intents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2900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&amp; category entity extraction in Bahasa Indonesia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1480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the right package based on your needs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0" y="274320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99032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WhatsApp handoff for human follow-up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0" y="3429000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99032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100% client-side — zero external API cost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3120" y="4114800"/>
            <a:ext cx="347472" cy="34747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99032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keyword learning from live conversations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5669280" y="914400"/>
            <a:ext cx="2926080" cy="411480"/>
          </a:xfrm>
          <a:prstGeom prst="rect">
            <a:avLst/>
          </a:prstGeom>
          <a:solidFill>
            <a:srgbClr val="004896">
              <a:alpha val="28000"/>
            </a:srgbClr>
          </a:solidFill>
          <a:ln w="6350">
            <a:solidFill>
              <a:srgbClr val="004896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760720" y="914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mau buat toko online, budget 5 juta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5943600" y="1463040"/>
            <a:ext cx="2743200" cy="411480"/>
          </a:xfrm>
          <a:prstGeom prst="rect">
            <a:avLst/>
          </a:prstGeom>
          <a:solidFill>
            <a:srgbClr val="831449">
              <a:alpha val="28000"/>
            </a:srgbClr>
          </a:solidFill>
          <a:ln w="6350">
            <a:solidFill>
              <a:srgbClr val="831449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6035040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Nara: Paket Toko Online cocok untuk Anda! 🎯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5669280" y="2011680"/>
            <a:ext cx="2926080" cy="411480"/>
          </a:xfrm>
          <a:prstGeom prst="rect">
            <a:avLst/>
          </a:prstGeom>
          <a:solidFill>
            <a:srgbClr val="004896">
              <a:alpha val="28000"/>
            </a:srgbClr>
          </a:solidFill>
          <a:ln w="6350">
            <a:solidFill>
              <a:srgbClr val="004896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76072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konsultasi via WhatsApp?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5943600" y="2560320"/>
            <a:ext cx="2743200" cy="320040"/>
          </a:xfrm>
          <a:prstGeom prst="rect">
            <a:avLst/>
          </a:prstGeom>
          <a:solidFill>
            <a:srgbClr val="207224">
              <a:alpha val="28000"/>
            </a:srgbClr>
          </a:solidFill>
          <a:ln w="6350">
            <a:solidFill>
              <a:srgbClr val="207224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035040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Nara: Tentu! Klik di sini →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ect">
            <a:avLst>
              <a:gd name="adj" fmla="val 17857"/>
            </a:avLst>
          </a:prstGeom>
          <a:solidFill>
            <a:srgbClr val="207224"/>
          </a:solidFill>
          <a:ln w="12700">
            <a:solidFill>
              <a:srgbClr val="2072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Modern,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Production-Grade Technology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274320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004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7647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212140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Component-based UI — maintainable, scalable, type-safe frontend architecture.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54680" y="1691640"/>
            <a:ext cx="274320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B7643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201168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9040" y="17647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5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749040" y="212140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Lightning-fast build tooling. Near-instant HMR in development, optimized production bundles.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35040" y="1691640"/>
            <a:ext cx="274320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0722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01168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0" y="17647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3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629400" y="212140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styling for consistent, fully responsive layouts across all screen sizes.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74320" y="3017520"/>
            <a:ext cx="274320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A91B6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33756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0906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11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68680" y="344728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Physics-based animations: scroll reveals, 3D card effects, spring transitions.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154680" y="3017520"/>
            <a:ext cx="274320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333756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49040" y="30906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749040" y="344728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Secure, passwordless authentication trusted by billions — no credential storage.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035040" y="3017520"/>
            <a:ext cx="274320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831449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337560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9400" y="309067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Deployment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629400" y="344728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edge network, automatic CI/CD from Git. Every push goes live instantly.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Lucide React icons  ·  React Context + localStorage state  ·  Poppins &amp; Fredoka typography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80744" cy="256032"/>
          </a:xfrm>
          <a:prstGeom prst="rect">
            <a:avLst>
              <a:gd name="adj" fmla="val 17857"/>
            </a:avLst>
          </a:prstGeom>
          <a:solidFill>
            <a:srgbClr val="B76431"/>
          </a:solidFill>
          <a:ln w="12700">
            <a:solidFill>
              <a:srgbClr val="B764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OUR PROCESS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First Message to Live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simple steps. No jargon. No surprises.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04872" y="2907792"/>
            <a:ext cx="155448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00200"/>
            <a:ext cx="1920240" cy="3246120"/>
          </a:xfrm>
          <a:prstGeom prst="rect">
            <a:avLst/>
          </a:prstGeom>
          <a:solidFill>
            <a:srgbClr val="141414"/>
          </a:solidFill>
          <a:ln w="19050">
            <a:solidFill>
              <a:srgbClr val="B7643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00200"/>
            <a:ext cx="1920240" cy="54864"/>
          </a:xfrm>
          <a:prstGeom prst="rect">
            <a:avLst/>
          </a:prstGeom>
          <a:solidFill>
            <a:srgbClr val="B76431"/>
          </a:solidFill>
          <a:ln w="12700">
            <a:solidFill>
              <a:srgbClr val="B764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64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55648"/>
            <a:ext cx="502920" cy="502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2331720"/>
            <a:ext cx="1737360" cy="27432"/>
          </a:xfrm>
          <a:prstGeom prst="rect">
            <a:avLst/>
          </a:prstGeom>
          <a:solidFill>
            <a:srgbClr val="B76431"/>
          </a:solidFill>
          <a:ln w="12700">
            <a:solidFill>
              <a:srgbClr val="B764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 via WhatsApp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pesan pertama kamu — gratis konsultasi 30 menit.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53712" y="2907792"/>
            <a:ext cx="155448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00200"/>
            <a:ext cx="1920240" cy="3246120"/>
          </a:xfrm>
          <a:prstGeom prst="rect">
            <a:avLst/>
          </a:prstGeom>
          <a:solidFill>
            <a:srgbClr val="141414"/>
          </a:solidFill>
          <a:ln w="19050">
            <a:solidFill>
              <a:srgbClr val="004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0" y="1600200"/>
            <a:ext cx="1920240" cy="54864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70048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755648"/>
            <a:ext cx="502920" cy="5029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651760" y="2331720"/>
            <a:ext cx="1737360" cy="27432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65176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Ceritakan Bisnismu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65176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Kami dengarkan kebutuhan, tantangan, dan tujuanmu.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702552" y="2907792"/>
            <a:ext cx="155448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709160" y="1600200"/>
            <a:ext cx="1920240" cy="3246120"/>
          </a:xfrm>
          <a:prstGeom prst="rect">
            <a:avLst/>
          </a:prstGeom>
          <a:solidFill>
            <a:srgbClr val="141414"/>
          </a:solidFill>
          <a:ln w="19050">
            <a:solidFill>
              <a:srgbClr val="8314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709160" y="1600200"/>
            <a:ext cx="1920240" cy="54864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18888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1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755648"/>
            <a:ext cx="502920" cy="50292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800600" y="2331720"/>
            <a:ext cx="1737360" cy="27432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0060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Rekomendasi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80060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yang tepat dipilihkan khusus untuk bisnismu.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858000" y="1600200"/>
            <a:ext cx="1920240" cy="3246120"/>
          </a:xfrm>
          <a:prstGeom prst="rect">
            <a:avLst/>
          </a:prstGeom>
          <a:solidFill>
            <a:srgbClr val="141414"/>
          </a:solidFill>
          <a:ln w="19050">
            <a:solidFill>
              <a:srgbClr val="2072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858000" y="1600200"/>
            <a:ext cx="1920240" cy="54864"/>
          </a:xfrm>
          <a:prstGeom prst="rect">
            <a:avLst/>
          </a:prstGeom>
          <a:solidFill>
            <a:srgbClr val="207224"/>
          </a:solidFill>
          <a:ln w="12700">
            <a:solidFill>
              <a:srgbClr val="20722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967728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72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755648"/>
            <a:ext cx="502920" cy="50292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949440" y="2331720"/>
            <a:ext cx="1737360" cy="27432"/>
          </a:xfrm>
          <a:prstGeom prst="rect">
            <a:avLst/>
          </a:prstGeom>
          <a:solidFill>
            <a:srgbClr val="207224"/>
          </a:solidFill>
          <a:ln w="12700">
            <a:solidFill>
              <a:srgbClr val="20722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94944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Dimulai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4944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Kick-off! Timeline jelas, komunikasi transparan.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80744" cy="256032"/>
          </a:xfrm>
          <a:prstGeom prst="rect">
            <a:avLst>
              <a:gd name="adj" fmla="val 17857"/>
            </a:avLst>
          </a:prstGeom>
          <a:solidFill>
            <a:srgbClr val="207224"/>
          </a:solidFill>
          <a:ln w="12700">
            <a:solidFill>
              <a:srgbClr val="2072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OUR PROMISE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Promise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Client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97480" cy="3154680"/>
          </a:xfrm>
          <a:prstGeom prst="rect">
            <a:avLst/>
          </a:prstGeom>
          <a:solidFill>
            <a:srgbClr val="141414"/>
          </a:solidFill>
          <a:ln w="25400">
            <a:solidFill>
              <a:srgbClr val="83144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2697480" cy="64008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31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5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87452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944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31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Ketepatan Hasil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2331720" cy="27432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3375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consistently match the agreed brief. We set realistic expectations and keep them.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691640"/>
            <a:ext cx="2697480" cy="3154680"/>
          </a:xfrm>
          <a:prstGeom prst="rect">
            <a:avLst/>
          </a:prstGeom>
          <a:solidFill>
            <a:srgbClr val="141414"/>
          </a:solidFill>
          <a:ln w="25400">
            <a:solidFill>
              <a:srgbClr val="00489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691640"/>
            <a:ext cx="2697480" cy="64008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828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4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5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74520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29000" y="2944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4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Selalu Bisa Dihubungi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474720" y="3246120"/>
            <a:ext cx="2331720" cy="27432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29000" y="33375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response guaranteed. No radio silence. You'll always know where your project stands.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17920" y="1691640"/>
            <a:ext cx="2697480" cy="3154680"/>
          </a:xfrm>
          <a:prstGeom prst="rect">
            <a:avLst/>
          </a:prstGeom>
          <a:solidFill>
            <a:srgbClr val="141414"/>
          </a:solidFill>
          <a:ln w="25400">
            <a:solidFill>
              <a:srgbClr val="2072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17920" y="1691640"/>
            <a:ext cx="2697480" cy="64008"/>
          </a:xfrm>
          <a:prstGeom prst="rect">
            <a:avLst/>
          </a:prstGeom>
          <a:solidFill>
            <a:srgbClr val="207224"/>
          </a:solidFill>
          <a:ln w="12700">
            <a:solidFill>
              <a:srgbClr val="20722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55080" y="1828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072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5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74520"/>
            <a:ext cx="438912" cy="4389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355080" y="2944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07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Terhubung Penuh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400800" y="3246120"/>
            <a:ext cx="2331720" cy="27432"/>
          </a:xfrm>
          <a:prstGeom prst="rect">
            <a:avLst/>
          </a:prstGeom>
          <a:solidFill>
            <a:srgbClr val="207224"/>
          </a:solidFill>
          <a:ln w="12700">
            <a:solidFill>
              <a:srgbClr val="20722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355080" y="33375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component we deliver works together seamlessly — end-to-end, no loose ends.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4572000"/>
          </a:xfrm>
          <a:prstGeom prst="oval">
            <a:avLst/>
          </a:prstGeom>
          <a:solidFill>
            <a:srgbClr val="831449">
              <a:alpha val="10000"/>
            </a:srgbClr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581912" cy="256032"/>
          </a:xfrm>
          <a:prstGeom prst="rect">
            <a:avLst>
              <a:gd name="adj" fmla="val 17857"/>
            </a:avLst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WHY CHOOSE US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Clients Choose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Kinaryaloka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397764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19072"/>
            <a:ext cx="54864" cy="804672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0195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88366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Islamic business values — halal, honest, trustworthy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724912"/>
            <a:ext cx="397764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724912"/>
            <a:ext cx="54864" cy="804672"/>
          </a:xfrm>
          <a:prstGeom prst="rect">
            <a:avLst/>
          </a:prstGeom>
          <a:solidFill>
            <a:srgbClr val="004896"/>
          </a:solidFill>
          <a:ln w="12700">
            <a:solidFill>
              <a:srgbClr val="00489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0779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88950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mentality, not vendor-client transactions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730752"/>
            <a:ext cx="397764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A91B6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" y="3730752"/>
            <a:ext cx="54864" cy="804672"/>
          </a:xfrm>
          <a:prstGeom prst="rect">
            <a:avLst/>
          </a:prstGeom>
          <a:solidFill>
            <a:srgbClr val="A91B60"/>
          </a:solidFill>
          <a:ln w="12700">
            <a:solidFill>
              <a:srgbClr val="A91B6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1363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89534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 AI — smart onboarding before you even talk to us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1719072"/>
            <a:ext cx="397764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B7643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4880" y="1719072"/>
            <a:ext cx="54864" cy="804672"/>
          </a:xfrm>
          <a:prstGeom prst="rect">
            <a:avLst/>
          </a:prstGeom>
          <a:solidFill>
            <a:srgbClr val="B76431"/>
          </a:solidFill>
          <a:ln w="12700">
            <a:solidFill>
              <a:srgbClr val="B7643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90195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0" y="188366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tech stack that actually performs in production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754880" y="2724912"/>
            <a:ext cx="397764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0722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754880" y="2724912"/>
            <a:ext cx="54864" cy="804672"/>
          </a:xfrm>
          <a:prstGeom prst="rect">
            <a:avLst/>
          </a:prstGeom>
          <a:solidFill>
            <a:srgbClr val="207224"/>
          </a:solidFill>
          <a:ln w="12700">
            <a:solidFill>
              <a:srgbClr val="20722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907792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94960" y="288950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built to be used, not just delivered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754880" y="3730752"/>
            <a:ext cx="397764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754880" y="3730752"/>
            <a:ext cx="54864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913632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94960" y="389534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pricing — no surprises, ever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6400800" cy="5486400"/>
          </a:xfrm>
          <a:prstGeom prst="oval">
            <a:avLst/>
          </a:prstGeom>
          <a:solidFill>
            <a:srgbClr val="831449">
              <a:alpha val="10000"/>
            </a:srgbClr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457200"/>
            <a:ext cx="4572000" cy="4114800"/>
          </a:xfrm>
          <a:prstGeom prst="oval">
            <a:avLst/>
          </a:prstGeom>
          <a:solidFill>
            <a:srgbClr val="004896">
              <a:alpha val="8000"/>
            </a:srgbClr>
          </a:solidFill>
          <a:ln w="12700">
            <a:solidFill>
              <a:srgbClr val="004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Go Digital?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30-Minute Consultation — No commitment, just clarity.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1938528"/>
            <a:ext cx="2743200" cy="27432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2148840"/>
            <a:ext cx="4937760" cy="658368"/>
          </a:xfrm>
          <a:prstGeom prst="rect">
            <a:avLst/>
          </a:prstGeom>
          <a:solidFill>
            <a:srgbClr val="831449"/>
          </a:solidFill>
          <a:ln w="12700">
            <a:solidFill>
              <a:srgbClr val="83144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21488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WhatsApp: +62 813 5766 2424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2971800"/>
            <a:ext cx="4937760" cy="594360"/>
          </a:xfrm>
          <a:prstGeom prst="rect">
            <a:avLst/>
          </a:prstGeom>
          <a:solidFill>
            <a:srgbClr val="141414"/>
          </a:solidFill>
          <a:ln w="19050">
            <a:solidFill>
              <a:srgbClr val="004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971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kinaryaloka-digital.vercel.app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767328"/>
            <a:ext cx="7315200" cy="2743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"Kami tidak jual website. Kami bangun sistem yang benar-benar dipakai."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KINARYALOKA Digital Studio  ·  Est. 29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Kinaryaloka Digital Studio — Pitch Deck</dc:title>
  <dc:subject>PptxGenJS Presentation</dc:subject>
  <dc:creator>Kinaryaloka Digital Studio</dc:creator>
  <cp:lastModifiedBy>Kinaryaloka Digital Studio</cp:lastModifiedBy>
  <cp:revision>1</cp:revision>
  <dcterms:created xsi:type="dcterms:W3CDTF">2026-05-18T13:40:23Z</dcterms:created>
  <dcterms:modified xsi:type="dcterms:W3CDTF">2026-05-18T13:40:23Z</dcterms:modified>
</cp:coreProperties>
</file>